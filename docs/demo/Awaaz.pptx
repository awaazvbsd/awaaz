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81" r:id="rId7"/>
    <p:sldId id="288" r:id="rId8"/>
    <p:sldId id="289" r:id="rId9"/>
    <p:sldId id="286" r:id="rId10"/>
    <p:sldId id="287" r:id="rId11"/>
    <p:sldId id="285" r:id="rId12"/>
    <p:sldId id="271" r:id="rId1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44222A-34E9-4970-B82E-82661A0EA2AE}" v="2" dt="2026-01-01T07:45:50.2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70" autoAdjust="0"/>
    <p:restoredTop sz="96137" autoAdjust="0"/>
  </p:normalViewPr>
  <p:slideViewPr>
    <p:cSldViewPr snapToGrid="0">
      <p:cViewPr varScale="1">
        <p:scale>
          <a:sx n="82" d="100"/>
          <a:sy n="82" d="100"/>
        </p:scale>
        <p:origin x="499" y="7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vergia, Piyush" userId="3c0c3ad2-546c-4074-813e-2aed805ddfdd" providerId="ADAL" clId="{21EACF4F-1033-488D-B6D6-D98030E33839}"/>
    <pc:docChg chg="modSld">
      <pc:chgData name="Vijayvergia, Piyush" userId="3c0c3ad2-546c-4074-813e-2aed805ddfdd" providerId="ADAL" clId="{21EACF4F-1033-488D-B6D6-D98030E33839}" dt="2026-01-01T16:47:22.819" v="1" actId="1076"/>
      <pc:docMkLst>
        <pc:docMk/>
      </pc:docMkLst>
      <pc:sldChg chg="modSp mod">
        <pc:chgData name="Vijayvergia, Piyush" userId="3c0c3ad2-546c-4074-813e-2aed805ddfdd" providerId="ADAL" clId="{21EACF4F-1033-488D-B6D6-D98030E33839}" dt="2026-01-01T16:47:22.819" v="1" actId="1076"/>
        <pc:sldMkLst>
          <pc:docMk/>
          <pc:sldMk cId="1199528301" sldId="288"/>
        </pc:sldMkLst>
        <pc:spChg chg="mod">
          <ac:chgData name="Vijayvergia, Piyush" userId="3c0c3ad2-546c-4074-813e-2aed805ddfdd" providerId="ADAL" clId="{21EACF4F-1033-488D-B6D6-D98030E33839}" dt="2026-01-01T16:47:22.819" v="1" actId="1076"/>
          <ac:spMkLst>
            <pc:docMk/>
            <pc:sldMk cId="1199528301" sldId="288"/>
            <ac:spMk id="14" creationId="{242DC633-E955-55EF-2CE4-FD4AF6C641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Supreme Court (2025), Ministry of Education, and NCERT highlight schools as the most important environment for early identification and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F1C11-9A67-13D1-5388-A47FCA2B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694383-CB06-8929-A3B8-3A54F1AFB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8E2D73-C342-1DA1-981D-95B81948A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C558D-B569-2F38-1A65-F96D5C3BAE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361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6880-84F0-D7FD-6B0B-16711573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3AED1C-7876-D791-D8AB-E1FCFA711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ECDDF-23FA-5CBE-5650-A9BEEA3EE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C30B3-0582-855E-5ABE-C00026B0B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565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F5CA-9540-1677-3854-38F1457B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991BA8-6813-167D-D33A-0F9A04D5B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D1860-F2EC-BDBB-4168-DE9959E4D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D5A8B-204F-C8CC-DA99-6851802310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044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BE43-8C0F-40F7-5480-C888E2EEE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194E0-7389-FD29-8B19-87EDB95063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DA4E8-8546-B79C-4623-9558B4D09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0AAFC-4043-94A2-185C-AE8C6DBCB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6389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6221506" cy="1997867"/>
          </a:xfrm>
        </p:spPr>
        <p:txBody>
          <a:bodyPr anchor="b">
            <a:normAutofit fontScale="9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600" b="1" kern="100" spc="75" dirty="0">
                <a:solidFill>
                  <a:srgbClr val="59595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CBSE Science Exhibition Project 2025-26</a:t>
            </a:r>
            <a:br>
              <a:rPr lang="en-US" b="1" kern="100" spc="75" dirty="0">
                <a:solidFill>
                  <a:srgbClr val="595959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</a:br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4F1E0F0-847C-FBE1-1A79-1FD1106CA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36566"/>
            <a:ext cx="5733772" cy="98290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Voice-Based Early Stress Detection for Student Mental Wellness in Schools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C0E60-C979-47AD-D9FD-2E121A431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035" y="2036566"/>
            <a:ext cx="2996765" cy="4557820"/>
          </a:xfrm>
          <a:prstGeom prst="rect">
            <a:avLst/>
          </a:prstGeom>
          <a:noFill/>
        </p:spPr>
      </p:pic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140B152-2DC5-CE9D-1D10-D5563418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2278D06-DC68-76D1-D4F9-3278538EAAB4}"/>
              </a:ext>
            </a:extLst>
          </p:cNvPr>
          <p:cNvSpPr txBox="1">
            <a:spLocks/>
          </p:cNvSpPr>
          <p:nvPr/>
        </p:nvSpPr>
        <p:spPr>
          <a:xfrm>
            <a:off x="838200" y="5864898"/>
            <a:ext cx="5733772" cy="98290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kern="100" dirty="0">
                <a:effectLst/>
                <a:latin typeface="Arial" panose="020B06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Rushil Sunder [X E] | Arav Vijayvergia [X E]</a:t>
            </a:r>
            <a:endParaRPr lang="en-US" sz="14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b="1" kern="100" dirty="0">
                <a:effectLst/>
                <a:latin typeface="Arial" panose="020B06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Euro School</a:t>
            </a:r>
            <a:r>
              <a:rPr lang="en-US" sz="1400" kern="100" dirty="0">
                <a:effectLst/>
                <a:latin typeface="Arial" panose="020B0604020202020204" pitchFamily="34" charset="0"/>
                <a:ea typeface="Yu Gothic" panose="020B0400000000000000" pitchFamily="34" charset="-128"/>
                <a:cs typeface="Times New Roman" panose="02020603050405020304" pitchFamily="18" charset="0"/>
              </a:rPr>
              <a:t>, Whitefield [Bangalore, Karnataka]</a:t>
            </a:r>
            <a:endParaRPr lang="en-US" sz="1400" kern="100" dirty="0">
              <a:effectLst/>
              <a:latin typeface="Aptos" panose="020B0004020202020204" pitchFamily="34" charset="0"/>
              <a:ea typeface="Yu Gothic" panose="020B0400000000000000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944768" cy="923331"/>
          </a:xfrm>
        </p:spPr>
        <p:txBody>
          <a:bodyPr/>
          <a:lstStyle/>
          <a:p>
            <a:r>
              <a:rPr lang="en-US" b="1" dirty="0"/>
              <a:t>Why This Matters for academic zones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560085"/>
            <a:ext cx="7288212" cy="923331"/>
          </a:xfrm>
        </p:spPr>
        <p:txBody>
          <a:bodyPr>
            <a:normAutofit/>
          </a:bodyPr>
          <a:lstStyle/>
          <a:p>
            <a:r>
              <a:rPr lang="en-US" dirty="0"/>
              <a:t>Student stress is now a national priority, with early emotional struggles often going unnoticed because students don't openly express them. 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A82732-4C20-D93B-0097-38EE99A885DC}"/>
              </a:ext>
            </a:extLst>
          </p:cNvPr>
          <p:cNvSpPr txBox="1"/>
          <p:nvPr/>
        </p:nvSpPr>
        <p:spPr>
          <a:xfrm>
            <a:off x="9516191" y="268536"/>
            <a:ext cx="2017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Strategic Need for Early Mental-Wellness Support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5470C258-1E27-4E28-F9C1-923EFFD2EEF1}"/>
              </a:ext>
            </a:extLst>
          </p:cNvPr>
          <p:cNvSpPr/>
          <p:nvPr/>
        </p:nvSpPr>
        <p:spPr>
          <a:xfrm>
            <a:off x="1322318" y="2851810"/>
            <a:ext cx="3681770" cy="1434346"/>
          </a:xfrm>
          <a:prstGeom prst="roundRect">
            <a:avLst>
              <a:gd name="adj" fmla="val 5646"/>
            </a:avLst>
          </a:prstGeom>
          <a:solidFill>
            <a:srgbClr val="231D62"/>
          </a:solidFill>
          <a:ln w="7620">
            <a:solidFill>
              <a:srgbClr val="3C36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41275F8-F37C-0962-4AB5-0B68FF6BE3ED}"/>
              </a:ext>
            </a:extLst>
          </p:cNvPr>
          <p:cNvSpPr/>
          <p:nvPr/>
        </p:nvSpPr>
        <p:spPr>
          <a:xfrm>
            <a:off x="1522700" y="305219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Self-Reporting</a:t>
            </a:r>
            <a:endParaRPr lang="en-US" sz="1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7E43F93-3690-6926-4396-89B9759DAB40}"/>
              </a:ext>
            </a:extLst>
          </p:cNvPr>
          <p:cNvSpPr/>
          <p:nvPr/>
        </p:nvSpPr>
        <p:spPr>
          <a:xfrm>
            <a:off x="1522700" y="3469030"/>
            <a:ext cx="3281005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Many students avoid expressing their struggles openly.</a:t>
            </a:r>
            <a:endParaRPr lang="en-US" sz="15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C77477C-7932-C91E-55AB-8293FF37164F}"/>
              </a:ext>
            </a:extLst>
          </p:cNvPr>
          <p:cNvSpPr/>
          <p:nvPr/>
        </p:nvSpPr>
        <p:spPr>
          <a:xfrm>
            <a:off x="5196850" y="2851810"/>
            <a:ext cx="3681889" cy="1434346"/>
          </a:xfrm>
          <a:prstGeom prst="roundRect">
            <a:avLst>
              <a:gd name="adj" fmla="val 5646"/>
            </a:avLst>
          </a:prstGeom>
          <a:solidFill>
            <a:srgbClr val="231D62"/>
          </a:solidFill>
          <a:ln w="7620">
            <a:solidFill>
              <a:srgbClr val="3C36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29F2E3EC-6FC3-AEE5-9A3F-45A660DB5F23}"/>
              </a:ext>
            </a:extLst>
          </p:cNvPr>
          <p:cNvSpPr/>
          <p:nvPr/>
        </p:nvSpPr>
        <p:spPr>
          <a:xfrm>
            <a:off x="5397232" y="3052192"/>
            <a:ext cx="266688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Counsellor Intervention</a:t>
            </a:r>
            <a:endParaRPr lang="en-US" sz="18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0A5E8FA-AD5C-9531-4883-8D58EBF30EB7}"/>
              </a:ext>
            </a:extLst>
          </p:cNvPr>
          <p:cNvSpPr/>
          <p:nvPr/>
        </p:nvSpPr>
        <p:spPr>
          <a:xfrm>
            <a:off x="5397232" y="3469030"/>
            <a:ext cx="3281124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Often happens after visible signs emerge.</a:t>
            </a:r>
            <a:endParaRPr lang="en-US" sz="15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5C7FA710-5697-DDB3-18F1-ACB100E2AC6F}"/>
              </a:ext>
            </a:extLst>
          </p:cNvPr>
          <p:cNvSpPr/>
          <p:nvPr/>
        </p:nvSpPr>
        <p:spPr>
          <a:xfrm>
            <a:off x="1284724" y="4442996"/>
            <a:ext cx="3681770" cy="1125974"/>
          </a:xfrm>
          <a:prstGeom prst="roundRect">
            <a:avLst>
              <a:gd name="adj" fmla="val 7192"/>
            </a:avLst>
          </a:prstGeom>
          <a:solidFill>
            <a:srgbClr val="231D62"/>
          </a:solidFill>
          <a:ln w="7620">
            <a:solidFill>
              <a:srgbClr val="3C36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D1F00CB-1869-2CD1-35D3-A05223A0CC47}"/>
              </a:ext>
            </a:extLst>
          </p:cNvPr>
          <p:cNvSpPr/>
          <p:nvPr/>
        </p:nvSpPr>
        <p:spPr>
          <a:xfrm>
            <a:off x="1522700" y="467930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High-Cost Tools</a:t>
            </a:r>
            <a:endParaRPr lang="en-US" sz="18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111E611-D3A5-6842-3525-CF60CF7BF261}"/>
              </a:ext>
            </a:extLst>
          </p:cNvPr>
          <p:cNvSpPr/>
          <p:nvPr/>
        </p:nvSpPr>
        <p:spPr>
          <a:xfrm>
            <a:off x="1522700" y="5096138"/>
            <a:ext cx="328100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feasible for school-wide deployment.</a:t>
            </a:r>
            <a:endParaRPr lang="en-US" sz="14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A9C2309-B411-EBB4-EC4F-CB4F738D524D}"/>
              </a:ext>
            </a:extLst>
          </p:cNvPr>
          <p:cNvSpPr/>
          <p:nvPr/>
        </p:nvSpPr>
        <p:spPr>
          <a:xfrm>
            <a:off x="1406266" y="6137791"/>
            <a:ext cx="794476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i="1" dirty="0"/>
              <a:t>Our school already does a lot for well-being. AWAAZ adds a proactive layer: early, gentle, objective signals that help us reach students before stress escalates.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C90555-438A-D4F5-4783-3E542488DFC3}"/>
              </a:ext>
            </a:extLst>
          </p:cNvPr>
          <p:cNvSpPr txBox="1"/>
          <p:nvPr/>
        </p:nvSpPr>
        <p:spPr>
          <a:xfrm>
            <a:off x="5294702" y="4679300"/>
            <a:ext cx="35840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While schools are the first line of support, early warning signs of stress can be subtle and hard to detect without the right tools.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3540" y="18827"/>
            <a:ext cx="9187180" cy="129031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/>
              <a:t>AWAAZ</a:t>
            </a:r>
            <a:r>
              <a:rPr lang="en-US" dirty="0"/>
              <a:t> </a:t>
            </a:r>
            <a:br>
              <a:rPr lang="en-US" dirty="0"/>
            </a:br>
            <a:r>
              <a:rPr lang="en-US" sz="3100" u="sng" dirty="0"/>
              <a:t>A</a:t>
            </a:r>
            <a:r>
              <a:rPr lang="en-US" sz="3100" dirty="0"/>
              <a:t>udio </a:t>
            </a:r>
            <a:r>
              <a:rPr lang="en-US" sz="3100" u="sng" dirty="0"/>
              <a:t>W</a:t>
            </a:r>
            <a:r>
              <a:rPr lang="en-US" sz="3100" dirty="0"/>
              <a:t>ellness </a:t>
            </a:r>
            <a:r>
              <a:rPr lang="en-US" sz="3100" u="sng" dirty="0"/>
              <a:t>A</a:t>
            </a:r>
            <a:r>
              <a:rPr lang="en-US" sz="3100" dirty="0"/>
              <a:t>nalytics </a:t>
            </a:r>
            <a:r>
              <a:rPr lang="en-US" sz="3100" u="sng" dirty="0"/>
              <a:t>f</a:t>
            </a:r>
            <a:r>
              <a:rPr lang="en-US" sz="3100" dirty="0"/>
              <a:t>or </a:t>
            </a:r>
            <a:r>
              <a:rPr lang="en-US" sz="3100" u="sng" dirty="0"/>
              <a:t>A</a:t>
            </a:r>
            <a:r>
              <a:rPr lang="en-US" sz="3100" dirty="0"/>
              <a:t>cademic </a:t>
            </a:r>
            <a:r>
              <a:rPr lang="en-US" sz="3100" u="sng" dirty="0"/>
              <a:t>Z</a:t>
            </a:r>
            <a:r>
              <a:rPr lang="en-US" sz="3100" dirty="0"/>
              <a:t>ones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3C5F51-C597-A2B4-0A4D-6725C767C3A4}"/>
              </a:ext>
            </a:extLst>
          </p:cNvPr>
          <p:cNvGrpSpPr/>
          <p:nvPr/>
        </p:nvGrpSpPr>
        <p:grpSpPr>
          <a:xfrm>
            <a:off x="3174594" y="2414950"/>
            <a:ext cx="3112056" cy="659289"/>
            <a:chOff x="301704" y="4072135"/>
            <a:chExt cx="3112056" cy="659289"/>
          </a:xfrm>
        </p:grpSpPr>
        <p:pic>
          <p:nvPicPr>
            <p:cNvPr id="30" name="Image 1" descr="Radio microphone with solid fill">
              <a:extLst>
                <a:ext uri="{FF2B5EF4-FFF2-40B4-BE49-F238E27FC236}">
                  <a16:creationId xmlns:a16="http://schemas.microsoft.com/office/drawing/2014/main" id="{4CF95275-572B-35F4-50F6-800041E2D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571704" y="4072135"/>
              <a:ext cx="295870" cy="295870"/>
            </a:xfrm>
            <a:prstGeom prst="rect">
              <a:avLst/>
            </a:prstGeom>
          </p:spPr>
        </p:pic>
        <p:sp>
          <p:nvSpPr>
            <p:cNvPr id="32" name="Text 4">
              <a:extLst>
                <a:ext uri="{FF2B5EF4-FFF2-40B4-BE49-F238E27FC236}">
                  <a16:creationId xmlns:a16="http://schemas.microsoft.com/office/drawing/2014/main" id="{77FB2F31-3EE6-CF97-FD81-9742C593901D}"/>
                </a:ext>
              </a:extLst>
            </p:cNvPr>
            <p:cNvSpPr/>
            <p:nvPr/>
          </p:nvSpPr>
          <p:spPr>
            <a:xfrm>
              <a:off x="301704" y="4143137"/>
              <a:ext cx="1691045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1300" b="1" dirty="0"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Voice Samples</a:t>
              </a:r>
              <a:endParaRPr lang="en-US" sz="1300" dirty="0">
                <a:latin typeface="Calibri" panose="020F0502020204030204"/>
              </a:endParaRPr>
            </a:p>
          </p:txBody>
        </p:sp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688EF3DB-0AD7-B36A-CC0B-AEF275E17266}"/>
                </a:ext>
              </a:extLst>
            </p:cNvPr>
            <p:cNvSpPr/>
            <p:nvPr/>
          </p:nvSpPr>
          <p:spPr>
            <a:xfrm>
              <a:off x="301704" y="4435554"/>
              <a:ext cx="3112056" cy="2958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0"/>
                </a:lnSpc>
              </a:pPr>
              <a:r>
                <a:rPr lang="en-US" sz="1050" dirty="0"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Short samples during normal classroom routines.</a:t>
              </a:r>
              <a:endParaRPr lang="en-US" sz="1050" dirty="0">
                <a:latin typeface="Calibri" panose="020F0502020204030204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B81AEC9-EACE-4246-71FA-D16639339DAD}"/>
              </a:ext>
            </a:extLst>
          </p:cNvPr>
          <p:cNvGrpSpPr/>
          <p:nvPr/>
        </p:nvGrpSpPr>
        <p:grpSpPr>
          <a:xfrm>
            <a:off x="6730198" y="2367176"/>
            <a:ext cx="5083492" cy="687287"/>
            <a:chOff x="6956108" y="4066164"/>
            <a:chExt cx="5083492" cy="687287"/>
          </a:xfrm>
        </p:grpSpPr>
        <p:pic>
          <p:nvPicPr>
            <p:cNvPr id="34" name="Image 3" descr="preencoded.png">
              <a:extLst>
                <a:ext uri="{FF2B5EF4-FFF2-40B4-BE49-F238E27FC236}">
                  <a16:creationId xmlns:a16="http://schemas.microsoft.com/office/drawing/2014/main" id="{511DA609-F8F2-7FD1-77B7-6A9965ADD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98458" y="4066164"/>
              <a:ext cx="295870" cy="295870"/>
            </a:xfrm>
            <a:prstGeom prst="rect">
              <a:avLst/>
            </a:prstGeom>
          </p:spPr>
        </p:pic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5D64DC6D-BFE9-F72E-920D-9EF7AA655A3A}"/>
                </a:ext>
              </a:extLst>
            </p:cNvPr>
            <p:cNvSpPr/>
            <p:nvPr/>
          </p:nvSpPr>
          <p:spPr>
            <a:xfrm>
              <a:off x="6956108" y="4143137"/>
              <a:ext cx="1691045" cy="21133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1300" b="1" dirty="0">
                  <a:latin typeface="Playfair Display Bold" pitchFamily="34" charset="0"/>
                  <a:ea typeface="Playfair Display Bold" pitchFamily="34" charset="-122"/>
                  <a:cs typeface="Playfair Display Bold" pitchFamily="34" charset="-120"/>
                </a:rPr>
                <a:t>AI Analysis</a:t>
              </a:r>
              <a:endParaRPr lang="en-US" sz="1300" dirty="0">
                <a:latin typeface="Calibri" panose="020F0502020204030204"/>
              </a:endParaRPr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13EE5FC7-C4B7-0B87-2926-3EA9490E1B6D}"/>
                </a:ext>
              </a:extLst>
            </p:cNvPr>
            <p:cNvSpPr/>
            <p:nvPr/>
          </p:nvSpPr>
          <p:spPr>
            <a:xfrm>
              <a:off x="6956108" y="4435554"/>
              <a:ext cx="5083492" cy="3178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700"/>
                </a:lnSpc>
              </a:pPr>
              <a:r>
                <a:rPr lang="en-US" sz="1050" dirty="0">
                  <a:latin typeface="Open Sans" pitchFamily="34" charset="0"/>
                  <a:ea typeface="Open Sans" pitchFamily="34" charset="-122"/>
                  <a:cs typeface="Open Sans" pitchFamily="34" charset="-120"/>
                </a:rPr>
                <a:t>Analyses natural vocal cues like micro-tension, pitch shifts, breathing irregularities.</a:t>
              </a:r>
              <a:endParaRPr lang="en-US" sz="1050" dirty="0">
                <a:latin typeface="Calibri" panose="020F0502020204030204"/>
              </a:endParaRPr>
            </a:p>
          </p:txBody>
        </p:sp>
      </p:grpSp>
      <p:pic>
        <p:nvPicPr>
          <p:cNvPr id="39" name="Image 5" descr="preencoded.png">
            <a:extLst>
              <a:ext uri="{FF2B5EF4-FFF2-40B4-BE49-F238E27FC236}">
                <a16:creationId xmlns:a16="http://schemas.microsoft.com/office/drawing/2014/main" id="{1A749B1C-0881-212C-9AE2-C16DB3EE4D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12486" y="3250811"/>
            <a:ext cx="317897" cy="317897"/>
          </a:xfrm>
          <a:prstGeom prst="rect">
            <a:avLst/>
          </a:prstGeom>
        </p:spPr>
      </p:pic>
      <p:sp>
        <p:nvSpPr>
          <p:cNvPr id="41" name="Text 8">
            <a:extLst>
              <a:ext uri="{FF2B5EF4-FFF2-40B4-BE49-F238E27FC236}">
                <a16:creationId xmlns:a16="http://schemas.microsoft.com/office/drawing/2014/main" id="{48437E5F-94F3-5715-6CAB-375D4A6C0A4D}"/>
              </a:ext>
            </a:extLst>
          </p:cNvPr>
          <p:cNvSpPr/>
          <p:nvPr/>
        </p:nvSpPr>
        <p:spPr>
          <a:xfrm>
            <a:off x="3174594" y="3357372"/>
            <a:ext cx="1691045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Privacy First</a:t>
            </a:r>
            <a:endParaRPr lang="en-US" sz="1300" dirty="0">
              <a:latin typeface="Calibri" panose="020F0502020204030204"/>
            </a:endParaRP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22B79524-6531-0FF5-EE63-20B96D2C3283}"/>
              </a:ext>
            </a:extLst>
          </p:cNvPr>
          <p:cNvSpPr/>
          <p:nvPr/>
        </p:nvSpPr>
        <p:spPr>
          <a:xfrm>
            <a:off x="3174594" y="3649790"/>
            <a:ext cx="3538776" cy="295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0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No voice recordings saved , only numerical indicators.</a:t>
            </a:r>
            <a:endParaRPr lang="en-US" sz="1050" dirty="0">
              <a:latin typeface="Calibri" panose="020F0502020204030204"/>
            </a:endParaRPr>
          </a:p>
        </p:txBody>
      </p:sp>
      <p:pic>
        <p:nvPicPr>
          <p:cNvPr id="43" name="Image 7" descr="preencoded.png">
            <a:extLst>
              <a:ext uri="{FF2B5EF4-FFF2-40B4-BE49-F238E27FC236}">
                <a16:creationId xmlns:a16="http://schemas.microsoft.com/office/drawing/2014/main" id="{E3F81AAB-C089-E99E-8E98-65586B35C3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72548" y="3250811"/>
            <a:ext cx="317897" cy="317897"/>
          </a:xfrm>
          <a:prstGeom prst="rect">
            <a:avLst/>
          </a:prstGeom>
        </p:spPr>
      </p:pic>
      <p:sp>
        <p:nvSpPr>
          <p:cNvPr id="45" name="Text 10">
            <a:extLst>
              <a:ext uri="{FF2B5EF4-FFF2-40B4-BE49-F238E27FC236}">
                <a16:creationId xmlns:a16="http://schemas.microsoft.com/office/drawing/2014/main" id="{1B8FAE26-44E1-3EDE-FD5F-0ADAA2DDD6F1}"/>
              </a:ext>
            </a:extLst>
          </p:cNvPr>
          <p:cNvSpPr/>
          <p:nvPr/>
        </p:nvSpPr>
        <p:spPr>
          <a:xfrm>
            <a:off x="6730198" y="3357372"/>
            <a:ext cx="1691045" cy="211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50"/>
              </a:lnSpc>
            </a:pPr>
            <a:r>
              <a:rPr lang="en-US" sz="1300" b="1" dirty="0"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Secure Sharing</a:t>
            </a:r>
            <a:endParaRPr lang="en-US" sz="1300" dirty="0">
              <a:latin typeface="Calibri" panose="020F0502020204030204"/>
            </a:endParaRPr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5E81BB25-28D3-DE3E-5F1C-E2F10B4D5B22}"/>
              </a:ext>
            </a:extLst>
          </p:cNvPr>
          <p:cNvSpPr/>
          <p:nvPr/>
        </p:nvSpPr>
        <p:spPr>
          <a:xfrm>
            <a:off x="6730198" y="3624944"/>
            <a:ext cx="3904932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0"/>
              </a:lnSpc>
            </a:pPr>
            <a:r>
              <a:rPr lang="en-US" sz="1050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Insights shared privately with authorised wellness staff only.</a:t>
            </a:r>
            <a:endParaRPr lang="en-US" sz="1050" dirty="0">
              <a:latin typeface="Calibri" panose="020F0502020204030204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06A958E-F303-2A56-A789-501140E12C23}"/>
              </a:ext>
            </a:extLst>
          </p:cNvPr>
          <p:cNvSpPr txBox="1"/>
          <p:nvPr/>
        </p:nvSpPr>
        <p:spPr>
          <a:xfrm>
            <a:off x="5250458" y="1334562"/>
            <a:ext cx="45133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Helping Students Speak Without Speaking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A8E67A-DE05-8188-27B0-C006AF9434A1}"/>
              </a:ext>
            </a:extLst>
          </p:cNvPr>
          <p:cNvSpPr txBox="1"/>
          <p:nvPr/>
        </p:nvSpPr>
        <p:spPr>
          <a:xfrm>
            <a:off x="840392" y="4543462"/>
            <a:ext cx="4829096" cy="1298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AWAAZ merges </a:t>
            </a:r>
            <a:r>
              <a:rPr lang="en-US" sz="1800" b="1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voice-based biomarkers, AI analytics, and school counseling systems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 to proactively enhance student mental wellness.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6E4DDF-870A-9195-34E0-8E558DAF6E5B}"/>
              </a:ext>
            </a:extLst>
          </p:cNvPr>
          <p:cNvSpPr txBox="1"/>
          <p:nvPr/>
        </p:nvSpPr>
        <p:spPr>
          <a:xfrm>
            <a:off x="5858828" y="4500154"/>
            <a:ext cx="6089332" cy="12988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AWAAZ acts as a </a:t>
            </a:r>
            <a:r>
              <a:rPr lang="en-US" sz="1800" b="1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digital biomarker for stress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, giving educators </a:t>
            </a:r>
            <a:r>
              <a:rPr lang="en-US" sz="1800" b="1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objective, continuous insights</a:t>
            </a:r>
            <a:r>
              <a:rPr lang="en-US" sz="1800" b="0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, while respecting </a:t>
            </a:r>
            <a:r>
              <a:rPr lang="en-US" sz="1800" b="1" i="0" dirty="0">
                <a:solidFill>
                  <a:srgbClr val="222222"/>
                </a:solidFill>
                <a:effectLst/>
                <a:latin typeface="Aptos" panose="020B0004020202020204" pitchFamily="34" charset="0"/>
              </a:rPr>
              <a:t>privacy, cultural context, and student comfort.</a:t>
            </a:r>
            <a:endParaRPr lang="en-US" sz="1800" b="0" i="0" dirty="0">
              <a:solidFill>
                <a:srgbClr val="222222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52EC6E-8603-E45B-9423-456A374E3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B21463-30C9-60F4-EECE-29FD7846D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570" y="208640"/>
            <a:ext cx="7538547" cy="782848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Strategic Benefits for the School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66EBAE-0F70-99FA-E633-A339D2948B25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210570" y="991488"/>
            <a:ext cx="6839301" cy="315382"/>
          </a:xfrm>
        </p:spPr>
        <p:txBody>
          <a:bodyPr>
            <a:normAutofit fontScale="92500"/>
          </a:bodyPr>
          <a:lstStyle/>
          <a:p>
            <a:r>
              <a:rPr lang="en-US" dirty="0"/>
              <a:t>Enhancing Our Well-Being Ecosystem Without Increasing Workload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C74B9-DED5-8134-424C-E59FB032E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7D4E9D-90B7-C725-F39C-947C82CEEBD3}"/>
              </a:ext>
            </a:extLst>
          </p:cNvPr>
          <p:cNvSpPr txBox="1"/>
          <p:nvPr/>
        </p:nvSpPr>
        <p:spPr>
          <a:xfrm>
            <a:off x="534942" y="1942762"/>
            <a:ext cx="44135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Early, Objective Wellness Signals</a:t>
            </a:r>
          </a:p>
          <a:p>
            <a:r>
              <a:rPr lang="en-US" dirty="0"/>
              <a:t>Identifies emerging distress so the school can initiate support at the right time.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2DC633-E955-55EF-2CE4-FD4AF6C641C6}"/>
              </a:ext>
            </a:extLst>
          </p:cNvPr>
          <p:cNvSpPr txBox="1"/>
          <p:nvPr/>
        </p:nvSpPr>
        <p:spPr>
          <a:xfrm>
            <a:off x="5827830" y="162503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Aligned with National Frameworks</a:t>
            </a:r>
          </a:p>
          <a:p>
            <a:r>
              <a:rPr lang="en-US" dirty="0"/>
              <a:t>UMMEED School Mental-Health Framework</a:t>
            </a:r>
          </a:p>
          <a:p>
            <a:r>
              <a:rPr lang="en-US" dirty="0"/>
              <a:t>NCERT &amp; MANODARPAN priorities</a:t>
            </a:r>
          </a:p>
          <a:p>
            <a:r>
              <a:rPr lang="en-US" dirty="0"/>
              <a:t>NEP 2020's emphasis on emotional safety</a:t>
            </a:r>
          </a:p>
          <a:p>
            <a:r>
              <a:rPr lang="en-US" dirty="0"/>
              <a:t>Supreme Court 2025 directions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4C741-E17F-F516-DD23-509BBABA98A4}"/>
              </a:ext>
            </a:extLst>
          </p:cNvPr>
          <p:cNvSpPr txBox="1"/>
          <p:nvPr/>
        </p:nvSpPr>
        <p:spPr>
          <a:xfrm>
            <a:off x="534942" y="3844341"/>
            <a:ext cx="42361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Low Effort, High Impact</a:t>
            </a:r>
          </a:p>
          <a:p>
            <a:r>
              <a:rPr lang="en-US" dirty="0"/>
              <a:t>Uses existing devices, short routines, minimal training.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21F325-4BFF-6922-007D-5CC1C6EE63B1}"/>
              </a:ext>
            </a:extLst>
          </p:cNvPr>
          <p:cNvSpPr txBox="1"/>
          <p:nvPr/>
        </p:nvSpPr>
        <p:spPr>
          <a:xfrm>
            <a:off x="6096000" y="3844340"/>
            <a:ext cx="502471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Designed for Dignity &amp; Privacy</a:t>
            </a:r>
          </a:p>
          <a:p>
            <a:r>
              <a:rPr lang="en-US" dirty="0"/>
              <a:t>No labelling, no storing voices, no interference with academics.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C004DF-7100-0AC4-0EA2-818C0BAD70EB}"/>
              </a:ext>
            </a:extLst>
          </p:cNvPr>
          <p:cNvSpPr txBox="1"/>
          <p:nvPr/>
        </p:nvSpPr>
        <p:spPr>
          <a:xfrm>
            <a:off x="534942" y="5562766"/>
            <a:ext cx="10585776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cap="all" spc="150" dirty="0">
                <a:latin typeface="+mj-lt"/>
                <a:ea typeface="+mj-ea"/>
                <a:cs typeface="+mj-cs"/>
              </a:rPr>
              <a:t>AWAAZ</a:t>
            </a:r>
            <a:r>
              <a:rPr lang="en-US" sz="2000" b="1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cap="all" spc="150" dirty="0">
                <a:latin typeface="+mj-lt"/>
                <a:ea typeface="+mj-ea"/>
                <a:cs typeface="+mj-cs"/>
              </a:rPr>
              <a:t>deepens our school's commitment to well-being with minimal operational burden.</a:t>
            </a:r>
          </a:p>
        </p:txBody>
      </p:sp>
    </p:spTree>
    <p:extLst>
      <p:ext uri="{BB962C8B-B14F-4D97-AF65-F5344CB8AC3E}">
        <p14:creationId xmlns:p14="http://schemas.microsoft.com/office/powerpoint/2010/main" val="1199528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0064A-B45B-052B-7A07-A7290E1B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B7CFE-23B7-7C51-BAF1-E74AA5C03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20" y="519533"/>
            <a:ext cx="9187180" cy="82105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dirty="0"/>
              <a:t>What’s in it for me</a:t>
            </a:r>
            <a:r>
              <a:rPr lang="en-US" sz="3600" dirty="0"/>
              <a:t>?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 Strategic benefits for every stakeholder</a:t>
            </a:r>
            <a:endParaRPr lang="en-US" sz="32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9FF6D0C-444F-B1F6-A7BE-29FEB8B3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51FA5-260E-8C39-4FA3-AA7A3EA0C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046" y="1238978"/>
            <a:ext cx="2996765" cy="455782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91ACEA-AB11-9860-AD96-77EFE2CCF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433" y="1884855"/>
            <a:ext cx="7138582" cy="381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0603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476D1-F310-0279-BB72-6AA7FA7D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6032-6194-B877-567A-CFC78F15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50" y="828452"/>
            <a:ext cx="9187180" cy="82105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What makes awaaz unique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1EA9D8-7F4B-2167-DC25-A2B26E62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CA9EC9-F779-1D14-9F80-FCD9DC835A88}"/>
              </a:ext>
            </a:extLst>
          </p:cNvPr>
          <p:cNvSpPr txBox="1"/>
          <p:nvPr/>
        </p:nvSpPr>
        <p:spPr>
          <a:xfrm>
            <a:off x="1829799" y="1847422"/>
            <a:ext cx="6635481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Students' identity kept anonymous, only revealed to counselor during high-risk cases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Instant chat with the counselor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Works on any device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Early warning alerts for high-risk cases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1EB63-64B6-6217-3092-4A2CDF6C2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046" y="1238978"/>
            <a:ext cx="2996765" cy="45578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668645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679C-EABB-9804-DD26-E15C3DBE0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1DE2A0-052D-0692-2EB4-31C700FC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1DDE5E-4A48-E1CD-3ECB-769E2FCC42FC}"/>
              </a:ext>
            </a:extLst>
          </p:cNvPr>
          <p:cNvSpPr txBox="1"/>
          <p:nvPr/>
        </p:nvSpPr>
        <p:spPr>
          <a:xfrm>
            <a:off x="1735397" y="1889382"/>
            <a:ext cx="725364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Teacher /staff check-in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SMS to the counselor mobile device for high-risk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Optimization for mobile devices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Dashboard for counsellor to update the 360-degree analysis based on the discussion with parents and teachers.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Analytics based on age group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A0C483-AA63-1CD6-131F-9AD8523DE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950" y="828452"/>
            <a:ext cx="7439271" cy="821052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Future upgrades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474F9B-8727-4666-6070-863B01B3D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046" y="1238978"/>
            <a:ext cx="2996765" cy="45578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207076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E7E3B-4F50-EEB2-14D5-3D9220A3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DDD2177F-7D60-995C-8435-1B331D61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336550"/>
            <a:ext cx="7645399" cy="618490"/>
          </a:xfrm>
        </p:spPr>
        <p:txBody>
          <a:bodyPr>
            <a:normAutofit/>
          </a:bodyPr>
          <a:lstStyle/>
          <a:p>
            <a:r>
              <a:rPr lang="en-US" sz="3200" dirty="0"/>
              <a:t>Request for Additional support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8E0B60-83A9-2B7A-06EF-DC75DBE1F32A}"/>
              </a:ext>
            </a:extLst>
          </p:cNvPr>
          <p:cNvSpPr txBox="1"/>
          <p:nvPr/>
        </p:nvSpPr>
        <p:spPr>
          <a:xfrm>
            <a:off x="477520" y="1644918"/>
            <a:ext cx="5973460" cy="3770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Technical &amp; Digital Support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Provide access to </a:t>
            </a: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better computing resources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cloud storage, or school servers to process larger datasets.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Support </a:t>
            </a: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refinement of AI/voice-analysis models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including algorithm tuning, testing, and validation with more student voice samples.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Facilitate </a:t>
            </a: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integration with secure apps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or platforms for national-level demo (so POC works seamlessly).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8EFE4-6D1D-06CD-660D-CFEF049ABD3A}"/>
              </a:ext>
            </a:extLst>
          </p:cNvPr>
          <p:cNvSpPr txBox="1"/>
          <p:nvPr/>
        </p:nvSpPr>
        <p:spPr>
          <a:xfrm>
            <a:off x="6417266" y="1665988"/>
            <a:ext cx="5774734" cy="3278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Mentorship &amp; Guidance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Connect us with </a:t>
            </a: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IT / AI / experts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for technical validation and project improvement.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Offer </a:t>
            </a: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advice on structuring presentation &amp; storytelling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for judges at national events.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Help </a:t>
            </a:r>
            <a:r>
              <a:rPr lang="en-US" sz="16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prepare for Q&amp;A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with scenario-based practice and anticipated judge questions.</a:t>
            </a:r>
          </a:p>
        </p:txBody>
      </p:sp>
    </p:spTree>
    <p:extLst>
      <p:ext uri="{BB962C8B-B14F-4D97-AF65-F5344CB8AC3E}">
        <p14:creationId xmlns:p14="http://schemas.microsoft.com/office/powerpoint/2010/main" val="285707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850181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purl.org/dc/terms/"/>
    <ds:schemaRef ds:uri="http://purl.org/dc/dcmitype/"/>
    <ds:schemaRef ds:uri="http://schemas.microsoft.com/office/2006/documentManagement/types"/>
    <ds:schemaRef ds:uri="230e9df3-be65-4c73-a93b-d1236ebd677e"/>
    <ds:schemaRef ds:uri="http://www.w3.org/XML/1998/namespace"/>
    <ds:schemaRef ds:uri="http://schemas.microsoft.com/office/infopath/2007/PartnerControls"/>
    <ds:schemaRef ds:uri="16c05727-aa75-4e4a-9b5f-8a80a1165891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{19DC11D5-DB87-4740-A0D9-975A9244FA2B}TF7521aafa-c748-4c40-a498-ba511be234dc5b1b6097_win32-5039330bb2f3</Template>
  <TotalTime>842</TotalTime>
  <Words>597</Words>
  <Application>Microsoft Office PowerPoint</Application>
  <PresentationFormat>Widescreen</PresentationFormat>
  <Paragraphs>82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Calibri</vt:lpstr>
      <vt:lpstr>Open Sans</vt:lpstr>
      <vt:lpstr>Playfair Display Bold</vt:lpstr>
      <vt:lpstr>Tenorite</vt:lpstr>
      <vt:lpstr>Custom</vt:lpstr>
      <vt:lpstr>CBSE Science Exhibition Project 2025-26 </vt:lpstr>
      <vt:lpstr>Why This Matters for academic zones</vt:lpstr>
      <vt:lpstr>AWAAZ  Audio Wellness Analytics for Academic Zones</vt:lpstr>
      <vt:lpstr>Strategic Benefits for the School</vt:lpstr>
      <vt:lpstr>What’s in it for me?   Strategic benefits for every stakeholder</vt:lpstr>
      <vt:lpstr>What makes awaaz unique </vt:lpstr>
      <vt:lpstr>Future upgrades</vt:lpstr>
      <vt:lpstr>Request for Additional support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Sunderbabu Swaminathan</dc:creator>
  <cp:lastModifiedBy>Vijayvergia, Piyush</cp:lastModifiedBy>
  <cp:revision>13</cp:revision>
  <cp:lastPrinted>2026-01-01T07:46:28Z</cp:lastPrinted>
  <dcterms:created xsi:type="dcterms:W3CDTF">2025-11-26T13:01:32Z</dcterms:created>
  <dcterms:modified xsi:type="dcterms:W3CDTF">2026-01-01T16:47:31Z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d6b2b382-d4dd-4121-9655-657238526859_Enabled">
    <vt:lpwstr>true</vt:lpwstr>
  </property>
  <property fmtid="{D5CDD505-2E9C-101B-9397-08002B2CF9AE}" pid="5" name="MSIP_Label_d6b2b382-d4dd-4121-9655-657238526859_SetDate">
    <vt:lpwstr>2025-11-26T13:07:11Z</vt:lpwstr>
  </property>
  <property fmtid="{D5CDD505-2E9C-101B-9397-08002B2CF9AE}" pid="6" name="MSIP_Label_d6b2b382-d4dd-4121-9655-657238526859_Method">
    <vt:lpwstr>Privileged</vt:lpwstr>
  </property>
  <property fmtid="{D5CDD505-2E9C-101B-9397-08002B2CF9AE}" pid="7" name="MSIP_Label_d6b2b382-d4dd-4121-9655-657238526859_Name">
    <vt:lpwstr>Public</vt:lpwstr>
  </property>
  <property fmtid="{D5CDD505-2E9C-101B-9397-08002B2CF9AE}" pid="8" name="MSIP_Label_d6b2b382-d4dd-4121-9655-657238526859_SiteId">
    <vt:lpwstr>b7dcea4e-d150-4ba1-8b2a-c8b27a75525c</vt:lpwstr>
  </property>
  <property fmtid="{D5CDD505-2E9C-101B-9397-08002B2CF9AE}" pid="9" name="MSIP_Label_d6b2b382-d4dd-4121-9655-657238526859_ActionId">
    <vt:lpwstr>97a5f333-ad84-42c0-a2b9-507a9d21d40b</vt:lpwstr>
  </property>
  <property fmtid="{D5CDD505-2E9C-101B-9397-08002B2CF9AE}" pid="10" name="MSIP_Label_d6b2b382-d4dd-4121-9655-657238526859_ContentBits">
    <vt:lpwstr>0</vt:lpwstr>
  </property>
</Properties>
</file>